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8" r:id="rId8"/>
    <p:sldId id="264" r:id="rId14"/>
    <p:sldId id="267" r:id="rId17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jcD4rucqtp+wLHQZuMenxlUvB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14610D-5865-43E8-9A03-68FE645F0A24}">
  <a:tblStyle styleId="{6814610D-5865-43E8-9A03-68FE645F0A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de18c945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3fbde18c945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stopping parou a fase 1 na época 23 e restaurou os melhores pesos.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gap entre treino (0,92) e validação (0,80) mostra o overfitting que dropout e weight decay ainda não eliminam.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raças com pior F1 têm poucos exemplos e aparência parecida entre si (Devon Rex e Cornish Rex).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by subsystem, FT OFF / FT ON: NoC 82/443, NI 77/417, endpoints 32/151. Dominant signatures: NoC router control TMR (268) and router buffer Hamming single (244). Per-node counts run from 23 to 46 with no structure, consistent with uniform irradiation of the die.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two paths escalate to a functional failure: payload mismatch at the endpoint and manager checksum mismatch.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the campaign: a 3-day continuous dry run with zero errors, which is what lets us attribute the events to the beam.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dosimetry CSV does not declare units — HEH presumably cm^-2, TID presumably Gy.</a:t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maior gap frente à rubrica é a Seção 9 do enunciado: três configurações comparadas em tabela.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E3 ataca o problema do slide anterior: em vez de criar uma classe SRD nova, rejeitamos a previsão quando a confiança calibrada ou a margem entre o primeiro e o segundo lugar ficam abaixo do limiar.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métrica da comparação é a curva cobertura × acurácia: quanto se ganha em acurácia abrindo mão de responder em parte dos casos.</a:t>
            </a:r>
            <a:endParaRPr/>
          </a:p>
        </p:txBody>
      </p:sp>
      <p:sp>
        <p:nvSpPr>
          <p:cNvPr id="148" name="Google Shape;1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app roda a mesma rede exportada para ONNX; nada é enviado a servidor de inferência.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dois erros não são ruído: o softmax fica confiante porque o modelo é obrigado a escolher entre 22 raças e nenhuma delas é "sem raça definida". É um problema de cobertura do rótulo, não de capacidade da rede.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Tom é preto e branco e sai como Bombay, que é uma raça totalmente preta. O Bob é peludo e sai como Sphynx, que é uma raça sem pelo: a classe prevista tem justamente a característica oposta.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Suggestions worth raising: units and timezone in the header, coverage to the end of the user run, a marker in the stream for planned pauses and power cycles, automatic log archiving, and alerts on link loss.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overall assessment and whether any of the gaps were your own doing.</a:t>
            </a:r>
            <a:endParaRPr/>
          </a:p>
        </p:txBody>
      </p:sp>
      <p:sp>
        <p:nvSpPr>
          <p:cNvPr id="156" name="Google Shape;1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/>
          <p:nvPr/>
        </p:nvSpPr>
        <p:spPr>
          <a:xfrm>
            <a:off x="0" y="1655762"/>
            <a:ext cx="12192000" cy="354647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"/>
          <p:cNvSpPr txBox="1"/>
          <p:nvPr>
            <p:ph type="ctrTitle"/>
          </p:nvPr>
        </p:nvSpPr>
        <p:spPr>
          <a:xfrm>
            <a:off x="0" y="1655762"/>
            <a:ext cx="12192000" cy="3546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8"/>
          <p:cNvSpPr txBox="1"/>
          <p:nvPr>
            <p:ph idx="1" type="body"/>
          </p:nvPr>
        </p:nvSpPr>
        <p:spPr>
          <a:xfrm>
            <a:off x="-1" y="-1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2" type="body"/>
          </p:nvPr>
        </p:nvSpPr>
        <p:spPr>
          <a:xfrm>
            <a:off x="1" y="5202239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22" name="Google Shape;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00" y="112840"/>
            <a:ext cx="879225" cy="8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8" title="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8125" y="71349"/>
            <a:ext cx="960350" cy="9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/>
          <p:nvPr/>
        </p:nvSpPr>
        <p:spPr>
          <a:xfrm>
            <a:off x="0" y="6481714"/>
            <a:ext cx="12192000" cy="37628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1"/>
          <p:cNvSpPr txBox="1"/>
          <p:nvPr>
            <p:ph type="title"/>
          </p:nvPr>
        </p:nvSpPr>
        <p:spPr>
          <a:xfrm>
            <a:off x="514905" y="0"/>
            <a:ext cx="1030697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203445" y="1259522"/>
            <a:ext cx="11785108" cy="506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Arial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/>
          <p:nvPr/>
        </p:nvSpPr>
        <p:spPr>
          <a:xfrm>
            <a:off x="181991" y="1"/>
            <a:ext cx="124288" cy="1104899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0" y="6492875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1027566" y="6494591"/>
            <a:ext cx="10136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11236911" y="6496308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">
  <p:cSld name="Contents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5997" y="-1"/>
            <a:ext cx="6096001" cy="6858000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3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/>
          <p:nvPr>
            <p:ph idx="1" type="body"/>
          </p:nvPr>
        </p:nvSpPr>
        <p:spPr>
          <a:xfrm>
            <a:off x="1" y="1"/>
            <a:ext cx="609599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095996" y="0"/>
            <a:ext cx="609599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Section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-1" y="0"/>
            <a:ext cx="3048001" cy="6858000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048000" y="0"/>
            <a:ext cx="609599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203445" y="1259522"/>
            <a:ext cx="5744594" cy="5067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243963" y="1259522"/>
            <a:ext cx="5744594" cy="5067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/>
          <p:nvPr/>
        </p:nvSpPr>
        <p:spPr>
          <a:xfrm>
            <a:off x="0" y="6481714"/>
            <a:ext cx="12192000" cy="37628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0" y="6492875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1027566" y="6494591"/>
            <a:ext cx="10136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11236911" y="6496308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514905" y="0"/>
            <a:ext cx="1030697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/>
          <p:nvPr/>
        </p:nvSpPr>
        <p:spPr>
          <a:xfrm>
            <a:off x="181991" y="1"/>
            <a:ext cx="124288" cy="1104899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6481714"/>
            <a:ext cx="12192000" cy="376286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0" y="6492875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27566" y="6494591"/>
            <a:ext cx="10136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1236911" y="6496308"/>
            <a:ext cx="955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514905" y="0"/>
            <a:ext cx="1030697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3725" y="0"/>
            <a:ext cx="1438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181991" y="1"/>
            <a:ext cx="124288" cy="1104899"/>
          </a:xfrm>
          <a:prstGeom prst="rect">
            <a:avLst/>
          </a:prstGeom>
          <a:solidFill>
            <a:srgbClr val="005D98"/>
          </a:solidFill>
          <a:ln cap="flat" cmpd="sng" w="12700">
            <a:solidFill>
              <a:srgbClr val="005D98"/>
            </a:solidFill>
            <a:prstDash val="solid"/>
            <a:miter lim="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5D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Chart" Type="http://schemas.openxmlformats.org/officeDocument/2006/relationships/image" Target="../media/historico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App" Type="http://schemas.openxmlformats.org/officeDocument/2006/relationships/hyperlink" Target="https://thiago-haas.github.io/mobile-onnx/" TargetMode="External"/><Relationship Id="rIdDep1" Type="http://schemas.openxmlformats.org/officeDocument/2006/relationships/image" Target="../media/dep1.png"/><Relationship Id="rIdDep2" Type="http://schemas.openxmlformats.org/officeDocument/2006/relationships/image" Target="../media/dep2.png"/><Relationship Id="rIdDep3" Type="http://schemas.openxmlformats.org/officeDocument/2006/relationships/image" Target="../media/dep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0" y="1655762"/>
            <a:ext cx="12192000" cy="3546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pt-BR" sz="4400">
                <a:solidFill>
                  <a:schemeClr val="lt1"/>
                </a:solidFill>
              </a:rPr>
              <a:t>Detecção e classificação de raças de gatos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pt-BR" sz="2200"/>
              <a:t>Transfer learning com ResNet50 e YOLOv8, com execução no navegador</a:t>
            </a:r>
            <a:endParaRPr/>
          </a:p>
        </p:txBody>
      </p:sp>
      <p:sp>
        <p:nvSpPr>
          <p:cNvPr id="64" name="Google Shape;64;p1"/>
          <p:cNvSpPr txBox="1"/>
          <p:nvPr>
            <p:ph idx="1" type="body"/>
          </p:nvPr>
        </p:nvSpPr>
        <p:spPr>
          <a:xfrm>
            <a:off x="-1" y="-1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 txBox="1"/>
          <p:nvPr>
            <p:ph idx="2" type="body"/>
          </p:nvPr>
        </p:nvSpPr>
        <p:spPr>
          <a:xfrm>
            <a:off x="1" y="5202239"/>
            <a:ext cx="12191999" cy="165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1200">
                <a:solidFill>
                  <a:srgbClr val="005D98"/>
                </a:solidFill>
              </a:rPr>
              <a:t>Thiago Haas Rausch  ·  Bruna Henning Pereira</a:t>
            </a:r>
            <a:endParaRPr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1200">
                <a:solidFill>
                  <a:srgbClr val="005D98"/>
                </a:solidFill>
              </a:rPr>
              <a:t>Aprendizado Profundo  ·  PPGCA / UNIVALI  ·  Prof. Felipe Viel  ·  Apresentação de andamento — 23/09/2026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de18c945_5_0"/>
          <p:cNvSpPr txBox="1"/>
          <p:nvPr>
            <p:ph type="title"/>
          </p:nvPr>
        </p:nvSpPr>
        <p:spPr>
          <a:xfrm>
            <a:off x="514905" y="0"/>
            <a:ext cx="10307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</a:pPr>
            <a:r>
              <a:rPr lang="pt-BR"/>
              <a:t>Tema e tipo de dado</a:t>
            </a:r>
            <a:endParaRPr/>
          </a:p>
        </p:txBody>
      </p:sp>
      <p:sp>
        <p:nvSpPr>
          <p:cNvPr id="79" name="Google Shape;79;g3fbde18c945_5_0"/>
          <p:cNvSpPr txBox="1"/>
          <p:nvPr>
            <p:ph idx="12" type="sldNum"/>
          </p:nvPr>
        </p:nvSpPr>
        <p:spPr>
          <a:xfrm>
            <a:off x="11236911" y="6496308"/>
            <a:ext cx="95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0" name="Google Shape;80;g3fbde18c945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0" y="1750000"/>
            <a:ext cx="4700000" cy="35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fbde18c945_5_0"/>
          <p:cNvSpPr txBox="1"/>
          <p:nvPr/>
        </p:nvSpPr>
        <p:spPr>
          <a:xfrm>
            <a:off x="514900" y="1104900"/>
            <a:ext cx="6100000" cy="5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Tema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Detectar gatos em fotos e classificar a raça entre 22 classes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Pipeline: YOLOv8n → recorte → ResNet50 → Grad-CAM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Problema 1 do enunciado: classificação de imagens</a:t>
            </a:r>
            <a:endParaRPr sz="1350">
              <a:solidFill>
                <a:srgbClr val="005D9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Tipo de dado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Imagens RGB rotuladas por raça, redimensionadas para 224×224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Oxford-IIIT Pet + Cat Breeds Dataset (CC BY 4.0)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7.195 imagens após remover ilegíveis, duplicatas e conflitos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Split estratificado 70/15/15 → 5.036 / 1.079 / 1.080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Classes desbalanceadas: de 27 a 85 imagens por raça no teste</a:t>
            </a:r>
            <a:endParaRPr sz="1350">
              <a:solidFill>
                <a:srgbClr val="005D9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514905" y="0"/>
            <a:ext cx="10307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</a:pPr>
            <a:r>
              <a:rPr lang="pt-BR"/>
              <a:t>Estágio atual: treino e resultados</a:t>
            </a:r>
            <a:endParaRPr/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236911" y="6496308"/>
            <a:ext cx="95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514900" y="1104900"/>
            <a:ext cx="5700000" cy="5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Arquitetura e treinamento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ResNet50 pré-treinada na ImageNet (transfer learning)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Baseline: backbone congelado + cabeça com Dropout 0,5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Fine-tuning de layer3 / layer4 / fc, com early stopping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Label smoothing, weight decay, scheduler e augmentation</a:t>
            </a:r>
            <a:endParaRPr sz="1350">
              <a:solidFill>
                <a:srgbClr val="005D9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Resultados no teste (1.080 imagens)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Acurácia 81,8% · F1-macro 0,79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Melhores: Scottish Fold 0,97 · Egyptian Mau 0,95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Piores: Devon Rex 0,56 · Cornish Rex 0,58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Matriz de confusão, Grad-CAM e 30 fotos próprias</a:t>
            </a:r>
            <a:endParaRPr sz="1350">
              <a:solidFill>
                <a:srgbClr val="005D98"/>
              </a:solidFill>
            </a:endParaRPr>
          </a:p>
        </p:txBody>
      </p:sp>
      <p:pic>
        <p:nvPicPr>
          <p:cNvPr id="900" name="Imagem 900"/>
          <p:cNvPicPr preferRelativeResize="0"/>
          <p:nvPr/>
        </p:nvPicPr>
        <p:blipFill>
          <a:blip r:embed="rIdChart">
            <a:alphaModFix/>
          </a:blip>
          <a:stretch>
            <a:fillRect/>
          </a:stretch>
        </p:blipFill>
        <p:spPr>
          <a:xfrm>
            <a:off x="6500000" y="1450000"/>
            <a:ext cx="5100000" cy="3784000"/>
          </a:xfrm>
          <a:prstGeom prst="rect">
            <a:avLst/>
          </a:prstGeom>
          <a:noFill/>
          <a:ln w="9525">
            <a:solidFill>
              <a:srgbClr val="DDE3E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514905" y="0"/>
            <a:ext cx="10307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</a:pPr>
            <a:r>
              <a:rPr lang="pt-BR"/>
              <a:t>Em aberto e planejamento</a:t>
            </a:r>
            <a:endParaRPr/>
          </a:p>
        </p:txBody>
      </p:sp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11236911" y="6496308"/>
            <a:ext cx="95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14900" y="1104900"/>
            <a:ext cx="10574400" cy="5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Pendente nos critérios do trabalho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Plano de experimentos: baseline + duas variações comparadas em tabela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Relatório técnico final e apresentação</a:t>
            </a:r>
            <a:endParaRPr sz="1350">
              <a:solidFill>
                <a:srgbClr val="005D9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23 a 26/09 — experimentos e indicativo de SRD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E1: configuração atual, como referência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E2: sem fine-tuning, apenas a cabeça treinada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E3: rejeição por confiança — limiar de softmax e margem entre 1º e 2º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Calibração por temperatura e curva cobertura × acurácia na validação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Conjunto de controle com fotos de gatos SRD, como Tom e Bob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App passa a exibir "raça não identificada" abaixo do limiar</a:t>
            </a:r>
            <a:endParaRPr sz="1350">
              <a:solidFill>
                <a:srgbClr val="005D9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700">
                <a:solidFill>
                  <a:srgbClr val="005D98"/>
                </a:solidFill>
              </a:rPr>
              <a:t>27 a 30/09 — análise e fechamento</a:t>
            </a:r>
            <a:endParaRPr b="1" sz="170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Tabela comparativa: parâmetros, épocas, acurácia e F1-macro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Discussão de overfitting e das classes mais confundidas</a:t>
            </a:r>
            <a:endParaRPr sz="13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350">
                <a:solidFill>
                  <a:srgbClr val="005D98"/>
                </a:solidFill>
              </a:rPr>
              <a:t>Relatório, limitações, reprodutibilidade e ensaio da apresentação</a:t>
            </a:r>
            <a:endParaRPr sz="1350">
              <a:solidFill>
                <a:srgbClr val="005D9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514905" y="0"/>
            <a:ext cx="10307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800"/>
              <a:buNone/>
            </a:pPr>
            <a:r>
              <a:rPr lang="pt-BR"/>
              <a:t>Deploy no celular e gatos SRD</a:t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11236911" y="6496308"/>
            <a:ext cx="95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14900" y="1104900"/>
            <a:ext cx="5400000" cy="5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550">
                <a:solidFill>
                  <a:srgbClr val="005D98"/>
                </a:solidFill>
              </a:rPr>
              <a:t>App publicado: ONNX no navegador</a:t>
            </a:r>
            <a:endParaRPr b="1" sz="15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PWA com ONNX Runtime Web, sem servidor de inferência</a:t>
            </a:r>
            <a:endParaRPr sz="12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WebGPU quando disponível, com fallback para CPU</a:t>
            </a:r>
            <a:endParaRPr sz="12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0,7 a 0,8 s por análise · foto, câmera e uso offline</a:t>
            </a:r>
            <a:endParaRPr sz="12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  <a:hlinkClick xmlns:r="http://schemas.openxmlformats.org/officeDocument/2006/relationships" r:id="rIdApp"/>
              </a:rPr>
              <a:t>thiago-haas.github.io/mobile-onnx</a:t>
            </a:r>
            <a:endParaRPr sz="1250">
              <a:solidFill>
                <a:srgbClr val="005D9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5D98"/>
              </a:buClr>
              <a:buSzPts val="1400"/>
              <a:buChar char="●"/>
            </a:pPr>
            <a:r>
              <a:rPr b="1" lang="pt-BR" sz="1550">
                <a:solidFill>
                  <a:srgbClr val="005D98"/>
                </a:solidFill>
              </a:rPr>
              <a:t>Limitação exposta pelo uso real</a:t>
            </a:r>
            <a:endParaRPr b="1" sz="15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Todo gato recebe uma das 22 raças: não há "SRD"</a:t>
            </a:r>
            <a:endParaRPr sz="12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Tom, preto e branco → Bombay 76,4%</a:t>
            </a:r>
            <a:endParaRPr sz="12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Bob, peludo → Sphynx 58,8%, raça sem pelo</a:t>
            </a:r>
            <a:endParaRPr sz="1250">
              <a:solidFill>
                <a:srgbClr val="005D98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D98"/>
              </a:buClr>
              <a:buSzPts val="1000"/>
              <a:buChar char="○"/>
            </a:pPr>
            <a:r>
              <a:rPr lang="pt-BR" sz="1250">
                <a:solidFill>
                  <a:srgbClr val="005D98"/>
                </a:solidFill>
              </a:rPr>
              <a:t>A confiança sozinha não separa acerto de erro</a:t>
            </a:r>
            <a:endParaRPr sz="1250">
              <a:solidFill>
                <a:srgbClr val="005D98"/>
              </a:solidFill>
            </a:endParaRPr>
          </a:p>
        </p:txBody>
      </p:sp>
      <p:pic>
        <p:nvPicPr>
          <p:cNvPr id="911" name="Imagem 911"/>
          <p:cNvPicPr preferRelativeResize="0"/>
          <p:nvPr/>
        </p:nvPicPr>
        <p:blipFill>
          <a:blip r:embed="rIdDep1">
            <a:alphaModFix/>
          </a:blip>
          <a:stretch>
            <a:fillRect/>
          </a:stretch>
        </p:blipFill>
        <p:spPr>
          <a:xfrm>
            <a:off x="6100000" y="1600000"/>
            <a:ext cx="1800000" cy="3600000"/>
          </a:xfrm>
          <a:prstGeom prst="rect">
            <a:avLst/>
          </a:prstGeom>
          <a:noFill/>
          <a:ln w="9525">
            <a:solidFill>
              <a:srgbClr val="DDE3E8"/>
            </a:solidFill>
          </a:ln>
        </p:spPr>
      </p:pic>
      <p:sp>
        <p:nvSpPr>
          <p:cNvPr id="921" name="Legenda 921"/>
          <p:cNvSpPr txBox="1"/>
          <p:nvPr/>
        </p:nvSpPr>
        <p:spPr>
          <a:xfrm>
            <a:off x="6000000" y="529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buNone/>
            </a:pPr>
            <a:r>
              <a:rPr lang="pt-BR" sz="1050">
                <a:solidFill>
                  <a:srgbClr val="005D98"/>
                </a:solidFill>
              </a:rPr>
              <a:t>Persian · 82,0%</a:t>
            </a:r>
            <a:endParaRPr sz="1050"/>
          </a:p>
        </p:txBody>
      </p:sp>
      <p:pic>
        <p:nvPicPr>
          <p:cNvPr id="912" name="Imagem 912"/>
          <p:cNvPicPr preferRelativeResize="0"/>
          <p:nvPr/>
        </p:nvPicPr>
        <p:blipFill>
          <a:blip r:embed="rIdDep2">
            <a:alphaModFix/>
          </a:blip>
          <a:stretch>
            <a:fillRect/>
          </a:stretch>
        </p:blipFill>
        <p:spPr>
          <a:xfrm>
            <a:off x="8120000" y="1600000"/>
            <a:ext cx="1800000" cy="3600000"/>
          </a:xfrm>
          <a:prstGeom prst="rect">
            <a:avLst/>
          </a:prstGeom>
          <a:noFill/>
          <a:ln w="9525">
            <a:solidFill>
              <a:srgbClr val="DDE3E8"/>
            </a:solidFill>
          </a:ln>
        </p:spPr>
      </p:pic>
      <p:sp>
        <p:nvSpPr>
          <p:cNvPr id="922" name="Legenda 922"/>
          <p:cNvSpPr txBox="1"/>
          <p:nvPr/>
        </p:nvSpPr>
        <p:spPr>
          <a:xfrm>
            <a:off x="8020000" y="529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buNone/>
            </a:pPr>
            <a:r>
              <a:rPr lang="pt-BR" sz="1050">
                <a:solidFill>
                  <a:srgbClr val="005D98"/>
                </a:solidFill>
              </a:rPr>
              <a:t>Tom, SRD · Bombay 76,4%</a:t>
            </a:r>
            <a:endParaRPr sz="1050"/>
          </a:p>
        </p:txBody>
      </p:sp>
      <p:pic>
        <p:nvPicPr>
          <p:cNvPr id="913" name="Imagem 913"/>
          <p:cNvPicPr preferRelativeResize="0"/>
          <p:nvPr/>
        </p:nvPicPr>
        <p:blipFill>
          <a:blip r:embed="rIdDep3">
            <a:alphaModFix/>
          </a:blip>
          <a:stretch>
            <a:fillRect/>
          </a:stretch>
        </p:blipFill>
        <p:spPr>
          <a:xfrm>
            <a:off x="10140000" y="1600000"/>
            <a:ext cx="1800000" cy="3600000"/>
          </a:xfrm>
          <a:prstGeom prst="rect">
            <a:avLst/>
          </a:prstGeom>
          <a:noFill/>
          <a:ln w="9525">
            <a:solidFill>
              <a:srgbClr val="DDE3E8"/>
            </a:solidFill>
          </a:ln>
        </p:spPr>
      </p:pic>
      <p:sp>
        <p:nvSpPr>
          <p:cNvPr id="923" name="Legenda 923"/>
          <p:cNvSpPr txBox="1"/>
          <p:nvPr/>
        </p:nvSpPr>
        <p:spPr>
          <a:xfrm>
            <a:off x="10040000" y="529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buNone/>
            </a:pPr>
            <a:r>
              <a:rPr lang="pt-BR" sz="1050">
                <a:solidFill>
                  <a:srgbClr val="005D98"/>
                </a:solidFill>
              </a:rPr>
              <a:t>Bob, SRD · Sphynx 58,8%</a:t>
            </a:r>
            <a:endParaRPr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2024-02-14T21:21:22Z</dcterms:created>
</cp:coreProperties>
</file>