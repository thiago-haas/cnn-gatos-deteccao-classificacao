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7"/>
    <p:sldId id="258" r:id="rId8"/>
    <p:sldId id="259" r:id="rId9"/>
    <p:sldId id="260" r:id="rId6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g4gBBskbGsGoSKXfa9D5U1hdV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customschemas.google.com/relationships/presentationmetadata" Target="metadata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/>
          <p:nvPr/>
        </p:nvSpPr>
        <p:spPr>
          <a:xfrm>
            <a:off x="0" y="1655762"/>
            <a:ext cx="12192000" cy="354647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"/>
          <p:cNvSpPr txBox="1"/>
          <p:nvPr>
            <p:ph type="ctrTitle"/>
          </p:nvPr>
        </p:nvSpPr>
        <p:spPr>
          <a:xfrm>
            <a:off x="0" y="1655762"/>
            <a:ext cx="12192000" cy="3546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8"/>
          <p:cNvSpPr txBox="1"/>
          <p:nvPr>
            <p:ph idx="1" type="body"/>
          </p:nvPr>
        </p:nvSpPr>
        <p:spPr>
          <a:xfrm>
            <a:off x="-1" y="-1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2" type="body"/>
          </p:nvPr>
        </p:nvSpPr>
        <p:spPr>
          <a:xfrm>
            <a:off x="1" y="5202239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21" name="Google Shape;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0" y="112840"/>
            <a:ext cx="879225" cy="8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/>
          <p:nvPr/>
        </p:nvSpPr>
        <p:spPr>
          <a:xfrm>
            <a:off x="0" y="6481714"/>
            <a:ext cx="12192000" cy="37628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1"/>
          <p:cNvSpPr txBox="1"/>
          <p:nvPr>
            <p:ph type="title"/>
          </p:nvPr>
        </p:nvSpPr>
        <p:spPr>
          <a:xfrm>
            <a:off x="514905" y="0"/>
            <a:ext cx="1030697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203445" y="1259522"/>
            <a:ext cx="11785108" cy="506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Arial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1"/>
          <p:cNvSpPr/>
          <p:nvPr/>
        </p:nvSpPr>
        <p:spPr>
          <a:xfrm>
            <a:off x="181991" y="1"/>
            <a:ext cx="124288" cy="1104899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1"/>
          <p:cNvSpPr txBox="1"/>
          <p:nvPr>
            <p:ph idx="10" type="dt"/>
          </p:nvPr>
        </p:nvSpPr>
        <p:spPr>
          <a:xfrm>
            <a:off x="0" y="6492875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1" type="ftr"/>
          </p:nvPr>
        </p:nvSpPr>
        <p:spPr>
          <a:xfrm>
            <a:off x="1027566" y="6494591"/>
            <a:ext cx="10136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11236911" y="6496308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">
  <p:cSld name="Contents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/>
        </p:nvSpPr>
        <p:spPr>
          <a:xfrm>
            <a:off x="6095997" y="-1"/>
            <a:ext cx="6096001" cy="6858000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3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 txBox="1"/>
          <p:nvPr>
            <p:ph idx="1" type="body"/>
          </p:nvPr>
        </p:nvSpPr>
        <p:spPr>
          <a:xfrm>
            <a:off x="1" y="1"/>
            <a:ext cx="609599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095996" y="0"/>
            <a:ext cx="609599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Section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-1" y="0"/>
            <a:ext cx="3048001" cy="6858000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048000" y="0"/>
            <a:ext cx="609599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idx="1" type="body"/>
          </p:nvPr>
        </p:nvSpPr>
        <p:spPr>
          <a:xfrm>
            <a:off x="203445" y="1259522"/>
            <a:ext cx="5744594" cy="5067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2" type="body"/>
          </p:nvPr>
        </p:nvSpPr>
        <p:spPr>
          <a:xfrm>
            <a:off x="6243963" y="1259522"/>
            <a:ext cx="5744594" cy="5067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/>
          <p:nvPr/>
        </p:nvSpPr>
        <p:spPr>
          <a:xfrm>
            <a:off x="0" y="6481714"/>
            <a:ext cx="12192000" cy="37628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2"/>
          <p:cNvSpPr txBox="1"/>
          <p:nvPr>
            <p:ph idx="10" type="dt"/>
          </p:nvPr>
        </p:nvSpPr>
        <p:spPr>
          <a:xfrm>
            <a:off x="0" y="6492875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1" type="ftr"/>
          </p:nvPr>
        </p:nvSpPr>
        <p:spPr>
          <a:xfrm>
            <a:off x="1027566" y="6494591"/>
            <a:ext cx="10136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11236911" y="6496308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514905" y="0"/>
            <a:ext cx="1030697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" name="Google Shape;4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2"/>
          <p:cNvSpPr/>
          <p:nvPr/>
        </p:nvSpPr>
        <p:spPr>
          <a:xfrm>
            <a:off x="181991" y="1"/>
            <a:ext cx="124288" cy="1104899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0" y="6481714"/>
            <a:ext cx="12192000" cy="37628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0" y="6492875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1027566" y="6494591"/>
            <a:ext cx="10136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1236911" y="6496308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514905" y="0"/>
            <a:ext cx="1030697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81991" y="1"/>
            <a:ext cx="124288" cy="1104899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5D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655762"/>
            <a:ext cx="12192000" cy="3546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pt-BR" sz="4400">
                <a:solidFill>
                  <a:schemeClr val="lt1"/>
                </a:solidFill>
              </a:rPr>
              <a:t>Detecção e classificação de raças de gatos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pt-BR" sz="2200"/>
              <a:t>Transfer learning com ResNet50 e YOLOv8, com execução no navegador</a:t>
            </a:r>
            <a:endParaRPr/>
          </a:p>
        </p:txBody>
      </p:sp>
      <p:sp>
        <p:nvSpPr>
          <p:cNvPr id="62" name="Google Shape;62;p1"/>
          <p:cNvSpPr txBox="1"/>
          <p:nvPr>
            <p:ph idx="1" type="body"/>
          </p:nvPr>
        </p:nvSpPr>
        <p:spPr>
          <a:xfrm>
            <a:off x="-1" y="-1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 txBox="1"/>
          <p:nvPr>
            <p:ph idx="2" type="body"/>
          </p:nvPr>
        </p:nvSpPr>
        <p:spPr>
          <a:xfrm>
            <a:off x="1" y="5202239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1200">
                <a:solidFill>
                  <a:srgbClr val="005D98"/>
                </a:solidFill>
              </a:rPr>
              <a:t>Thiago Haas Rausch  ·  Bruna Henning Pereira</a:t>
            </a:r>
            <a:endParaRPr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1200">
                <a:solidFill>
                  <a:srgbClr val="005D98"/>
                </a:solidFill>
              </a:rPr>
              <a:t>Aprendizado Profundo  ·  PPGCA / UNIVALI  ·  Prof. Felipe Viel  ·  Apresentação final — 30/09/2026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Problema, motivação e escopo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Problema — Problema 1 do enunciado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Detectar o gato na foto e atribuir a raça entre 22 classes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Variável-alvo: raça, categórica, 22 níveis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Dado com estrutura espacial → arquitetura convolucional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Por que este problema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Em adoção e resgate, a raça orienta cuidados e predisposições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Consulta rápida no celular, sem enviar a foto a nenhum servidor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Caso didático completo: classes próximas, desbalanceadas e uma categoria de mundo real ausente do dataset — o gato SRD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8531F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Escopo declarado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É sugestão entre as classes aprendidas, não prova de genealogia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72768"/>
            <a:ext cx="4800600" cy="3607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535838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5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Pipeline rodando na webcam local · detecção, recorte e raça em um passo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Dados e análise exploratória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Fontes, com origem registrada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Oxford-IIIT Pet (12 raças) + Cat Breeds Dataset (20 raças)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CC BY 4.0, revisão fixada no commit 56a6905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União padronizada: 22 classes, 7.195 imagens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Problemas encontrados nos dados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Imagens ilegíveis e 11 duplicatas RGB exatas removidas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Cópias com rótulos conflitantes excluídas por inteiro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Desbalanceamento: de 184 a 568 imagens por raça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Nenhuma imagem de gato sem raça definida no conjunto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Rastreabilidade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dataset_manifest.csv e dataset_rejections.csv registram tudo</a:t>
            </a:r>
          </a:p>
        </p:txBody>
      </p:sp>
      <p:pic>
        <p:nvPicPr>
          <p:cNvPr id="4" name="Picture 3" descr="dist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70432"/>
            <a:ext cx="552959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Pré-processamento, divisão e vazamento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40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5.036</a:t>
            </a:r>
          </a:p>
          <a:p>
            <a:pPr marL="0" indent="0" algn="ctr">
              <a:buNone/>
            </a:pPr>
            <a:r>
              <a:rPr lang="pt-BR" sz="115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treino · 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59" y="118872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40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1.079</a:t>
            </a:r>
          </a:p>
          <a:p>
            <a:pPr marL="0" indent="0" algn="ctr">
              <a:buNone/>
            </a:pPr>
            <a:r>
              <a:rPr lang="pt-BR" sz="115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validação ·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18872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40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1.080</a:t>
            </a:r>
          </a:p>
          <a:p>
            <a:pPr marL="0" indent="0" algn="ctr">
              <a:buNone/>
            </a:pPr>
            <a:r>
              <a:rPr lang="pt-BR" sz="115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teste · 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69748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Pré-processamento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Redimensionamento para 224 × 224 e normalização ImageNet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Augmentation só no treino: flip horizontal, rotação ±15°, color jitter, blur gaussiano e random erasing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Validação e teste recebem apenas o pré-processamento padrão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6974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Split e controle de vazamento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Estratificado por raça, 70/15/15, semente 42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train_test_split com stratify — sem viés de arredondamento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Assert de disjunção por SHA-256 entre os três conjuntos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Assert de que as 22 classes aparecem nos três conjuntos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e justificativa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Por que uma CNN residual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 raça se distingue por textura de pelo, orelha e focinho: relações locais e espaciais, o terreno da convolução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Conexões residuais permitem profundidade sem degradar o treino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Por que transfer learning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7.195 imagens é pouco para treinar 23,5 M de parâmetros do zero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ResNet50 com pesos ImageNet; cabeça Dropout 0,5 + Linear 2048→22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Custo compatível com a disciplina, como pede a Seção 12.1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Detecção e regularização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YOLOv8n COCO, pesos genéricos: a detecção é pré-processamento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Label smoothing 0,05 · weight decay 3e-4 · ReduceLROnPlateau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Early stopping por val_loss, com restauração dos melhores pesos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97280"/>
            <a:ext cx="406345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 de experimentos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1207008"/>
          <a:ext cx="11155678" cy="39319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31453"/>
                <a:gridCol w="3157267"/>
                <a:gridCol w="2525814"/>
                <a:gridCol w="4841144"/>
              </a:tblGrid>
              <a:tr h="629107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Exp.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Configuração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Variável alterada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Hipótese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</a:tr>
              <a:tr h="825703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20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Baseline: backbone congelado,
só a cabeça treinada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Estabelece a referência: quanto a ImageNet
já resolve sem ajustar convoluções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825703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20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E1 + fine-tuning de
layer3 + layer4 + fc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Camadas descongeladas
(arquitetura)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Especializar os dois últimos blocos em pelagem
eleva acurácia e F1-macro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825703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20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E1 + fine-tuning de
layer4 + fc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Profundidade do
descongelamento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Menos parâmetros treináveis reduzem o
sobreajuste, com perda pequena de acurácia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825703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20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E2 sem data augmentation
(experimento extra)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Regularização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20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 augmentation o gap treino−validação
cresce e a métrica de teste cai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2064" y="5440680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pt-BR" sz="135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Comparação controlada: mesmo split, mesma semente 42, mesmo otimizador, scheduler e critério de parada. Muda uma variável por experimento.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comparados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1207008"/>
          <a:ext cx="11155678" cy="187451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09320"/>
                <a:gridCol w="3353152"/>
                <a:gridCol w="1676576"/>
                <a:gridCol w="1031739"/>
                <a:gridCol w="1483125"/>
                <a:gridCol w="1483125"/>
                <a:gridCol w="1418641"/>
              </a:tblGrid>
              <a:tr h="299923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Exp.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Configuração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Parâmetros
treináveis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Épocas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Acurácia
(teste)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F1-macro
(teste)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
treino−val</a:t>
                      </a:r>
                    </a:p>
                  </a:txBody>
                  <a:tcPr marL="82296" marR="82296" marT="41148" marB="41148" anchor="ctr">
                    <a:solidFill>
                      <a:srgbClr val="005D98"/>
                    </a:solidFill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15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Baseline: só a cabeça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0,05 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0,756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0,725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0,036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15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E2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layer3, layer4 e fc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22,11 M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0,809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0,784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0,163</a:t>
                      </a:r>
                    </a:p>
                  </a:txBody>
                  <a:tcPr marL="82296" marR="82296" marT="41148" marB="41148" anchor="ctr">
                    <a:solidFill>
                      <a:srgbClr val="E6EEF5"/>
                    </a:solidFill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lang="pt-BR" sz="1150" b="1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layer4 e fc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15,01 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0,797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0,773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pt-BR" sz="1150" b="0" i="0">
                          <a:solidFill>
                            <a:srgbClr val="005D9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0,140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2064" y="3310128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As três hipóteses se confirmaram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E2 ganha 5,4 pontos de acurácia e 5,9 de F1-macro sobre o baseline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E3 treina 32% menos parâmetros e perde só 1,2 ponto para E2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preço do ganho é o sobreajuste: o gap salta de 0,036 para 0,163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Qual alteração produziu maior impacto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Descongelar layer3 e layer4 — é a decisão que move a métrica</a:t>
            </a:r>
          </a:p>
        </p:txBody>
      </p:sp>
      <p:pic>
        <p:nvPicPr>
          <p:cNvPr id="5" name="Picture 4" descr="comparativo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401568"/>
            <a:ext cx="5303520" cy="2171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568756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0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Mesmo split, semente 42 e critério de parada nos três · artifacts/experimentos/comparativo.csv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Histórico de treinamento e sobreajuste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Duas fases, uma curva — experimento E2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Fase 1 — só a cabeça, backbone congelado: 30 épocas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Fase 2 — fine-tuning de layer3, layer4 e fc: 20 épocas, taxa 1e-5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Early stopping por val_loss não disparou: as duas fases foram até o limite de épocas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Evidência de sobreajuste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Após o fine-tuning, o treino sobe a 0,94 e a validação estaciona em 0,77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Gap de 0,163 contra 0,036 do baseline: o ganho de acurácia veio junto com o sobreajuste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Como foi contido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Dropout 0,5 · weight decay 3e-4 · augmentation · label smoothing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Restauração automática dos pesos de melhor val_loss</a:t>
            </a:r>
          </a:p>
        </p:txBody>
      </p:sp>
      <p:pic>
        <p:nvPicPr>
          <p:cNvPr id="4" name="Picture 3" descr="historico_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303520" cy="41951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55778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5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Loss e acurácia por época · a linha pontilhada marca o início do fine-tuning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o modelo erra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Métrica escolhida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F1-macro, não acurácia: com classes de 27 a 85 imagens no teste, a acurácia esconde o desempenho das raças menores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As classes que o modelo confunde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Seis das 22 classes ficam abaixo de 0,70 de F1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Devon Rex 0,56 e Cornish Rex 0,58: pelo curto encaracolado, orelhas grandes e rosto fino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Himalayan 0,62, Manx 0,63 e Norwegian Forest 0,63 completam o grupo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As classes fáceis têm marca visual única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Scottish Fold 0,96 (orelha dobrada) · Egyptian Mau 0,93 (pintas)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Bombay 0,93 (preto uniforme) · Sphynx 0,90 (sem pelo)</a:t>
            </a:r>
          </a:p>
        </p:txBody>
      </p:sp>
      <p:pic>
        <p:nvPicPr>
          <p:cNvPr id="4" name="Picture 3" descr="f1_por_cl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70432"/>
            <a:ext cx="538329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 quem cada raça é confundida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 matriz normalizada por linha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Sem normalizar, as raças grandes dominariam a escala de cor e as pequenas sumiriam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Em laranja, as confusões acima de 15% das imagens da classe real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Os pares que o modelo troca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Norwegian Forest → Maine Coon: 32% · pelo longo e porte grande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Himalayan → Persian: 27% · o Himalaio é um persa de pontas coloridas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Devon Rex ↔ Cornish Rex: 26% e 20% · a confusão é mútua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Savannah → Bengal: 17% · as duas têm pelagem malhada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que isso diz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erro não é ruído: são raças que um humano também confunde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Mais dados nessas classes ajudaria mais do que uma rede maior</a:t>
            </a:r>
          </a:p>
        </p:txBody>
      </p:sp>
      <p:pic>
        <p:nvPicPr>
          <p:cNvPr id="4" name="Picture 3" descr="matriz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31833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 Raça Definida: o limite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 limitação que o uso real expôs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softmax distribui 100% entre 22 raças: todo gato recebe alguma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Tom, SRD preto e branco → Bombay 76,4%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Bob, SRD peludo → Sphynx 58,8%, uma raça sem pelo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que está em produção hoje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Regra de rejeição: confiança abaixo de 40% exibe SRD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Um limiar escolhido a olho, sem nenhuma medida que o sustentasse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Como medimos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Calibração por temperatura na validação, com ECE antes e depois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Varredura de limiar: cobertura × acurácia entre os aceitos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Conjunto de controle com 30 fotos de gatos SRD — acertar é rejeitar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185166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5230368"/>
            <a:ext cx="2057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5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Tom, SRD</a:t>
            </a:r>
          </a:p>
          <a:p>
            <a:pPr marL="0" indent="0" algn="ctr">
              <a:buNone/>
            </a:pPr>
            <a:r>
              <a:rPr lang="pt-BR" sz="105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Bombay 76,4%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4" y="1463040"/>
            <a:ext cx="185166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93224" y="5230368"/>
            <a:ext cx="2057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5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Bob, SRD</a:t>
            </a:r>
          </a:p>
          <a:p>
            <a:pPr marL="0" indent="0" algn="ctr">
              <a:buNone/>
            </a:pPr>
            <a:r>
              <a:rPr lang="pt-BR" sz="105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Sphynx 58,8%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SRD: o que a medição mostrou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 calibração contrariou a expectativa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 = 0,87 &lt; 1: o modelo estava subconfiante, não superconfiante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ECE já era baixo: 0,038 → 0,021 · o label smoothing de 0,05 antecipou o efeito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limiar de 40% é frouxo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Rejeita 5% das fotos — 167 erros continuam passando, a 83,7% de acurácia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Para 90% entre os aceitos seria preciso 0,65, e 1 em 4 fotos fica sem raça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8531F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O controle SRD dá o veredito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Em 0,40, só 23% dos gatos SRD são rejeitados: 7 em 10 recebem uma raça que não têm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Em 0,65 sobe para 47% — ainda mais da metade erra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Rejeitar 87% exigiria o limiar 0,90, que derruba a cobertura a 48%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C8531F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531F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C8531F"/>
                </a:solidFill>
                <a:latin typeface="Arial"/>
                <a:ea typeface="Arial"/>
                <a:cs typeface="Arial"/>
                <a:sym typeface="Arial"/>
              </a:rPr>
              <a:t>A rejeição por confiança não substitui uma classe SRD treinada</a:t>
            </a:r>
          </a:p>
        </p:txBody>
      </p:sp>
      <p:pic>
        <p:nvPicPr>
          <p:cNvPr id="4" name="Picture 3" descr="srd_lim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78992"/>
            <a:ext cx="461805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treinamento ao navegador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Exportação verificada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ResNet50 e YOLOv8n exportadas para ONNX, FP32, opset 17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Paridade PyTorch × ONNX medida: erro máximo 9,5 × 10⁻⁷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metadata.json carrega rótulos, dimensões, normalização e hashes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Aplicação publicada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PWA com ONNX Runtime Web — nenhum servidor de inferência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WebGPU quando disponível, com alternativa pela CPU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0,7 a 0,8 s por análise · foto, câmera ao vivo e uso offline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thiago-haas.github.io/mobile-onnx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Por que isso importa para o trabalho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Foi o uso real no celular que revelou a limitação do SRD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463040"/>
            <a:ext cx="185166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523036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50" b="0" i="0">
                <a:solidFill>
                  <a:srgbClr val="6B7A85"/>
                </a:solidFill>
                <a:latin typeface="Arial"/>
                <a:ea typeface="Arial"/>
                <a:cs typeface="Arial"/>
                <a:sym typeface="Arial"/>
              </a:rPr>
              <a:t>Persian · 82,0%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classificador só conhece as 22 raças do conjunto de treino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Confiança alta não é prova: Bob recebeu 58,8% em uma raça sem pelo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detector usa pesos COCO genéricos, sem ajuste para gatos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 limpeza remove duplicatas RGB exatas, não imagens semelhantes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Iluminação, pose e fundo degradam o resultado em fotos externas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0515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Transfer learning entrega 80,9% de acurácia e 0,78 de F1-macro com 7.195 imagens e custo compatível com a disciplina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fine-tuning parcial vale os 5,4 pontos que ganha, mas o sobreajuste cresce junto: é uma troca, não um ganho de graça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erro não é uniforme: concentra-se em raças de pelo curto e rosto fino, visualmente próximas entre si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 métrica de raça não representa o objetivo real — um gato SRD não tem rótulo certo entre as 22 classes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O que melhoraria o sistema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Classe SRD treinada, com fotos de gatos comuns — medimos que a rejeição por confiança sozinha não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389120"/>
            <a:ext cx="6035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pt-BR" sz="1250" b="1" i="1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problema → dados → modelo → treinamento → avaliação → análise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Reprodutibilidade e entregáveis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05156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Reprodutibilidade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Semente 42 fixada em random, numpy e torch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Revisão do dataset externo fixada por commit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Manifests de dados e de cada split versionados em artifacts/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requirements.txt e requirements-export.txt declarados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Testes em tests/, executados com unittest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05156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Entregáveis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Notebook organizado pelo checklist, com mapa item → seção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Todas as figuras deste deck saem de artifacts/figuras/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Aplicação web publicada, com os modelos ONNX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Relatório técnico e esta apresentação</a:t>
            </a:r>
          </a:p>
          <a:p>
            <a:pPr marL="457200" indent="-317500" lvl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5D98"/>
              </a:buClr>
              <a:buSzPts val="1400"/>
              <a:buFont typeface="Arial"/>
              <a:buChar char="●"/>
            </a:pPr>
            <a:r>
              <a:rPr lang="pt-BR" sz="18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Repositórios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github.com/Thiago-Haas/cnn-gatos-deteccao-classificacao</a:t>
            </a:r>
          </a:p>
          <a:p>
            <a:pPr marL="914400" indent="-292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Font typeface="Arial"/>
              <a:buChar char="○"/>
            </a:pPr>
            <a:r>
              <a:rPr lang="pt-BR" sz="1400" b="0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github.com/Thiago-Haas/mobile-onnx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70332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pt-BR" sz="1400" b="1" i="0">
                <a:solidFill>
                  <a:srgbClr val="005D98"/>
                </a:solidFill>
                <a:latin typeface="Arial"/>
                <a:ea typeface="Arial"/>
                <a:cs typeface="Arial"/>
                <a:sym typeface="Arial"/>
              </a:rPr>
              <a:t>Thiago Haas Rausch  ·  Bruna Henning Pereira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2024-02-14T21:21:22Z</dcterms:created>
</cp:coreProperties>
</file>